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Platypi Medium" panose="020B0604020202020204" charset="0"/>
      <p:regular r:id="rId14"/>
    </p:embeddedFont>
    <p:embeddedFont>
      <p:font typeface="Source Sans Pro Light" panose="020B0403030403020204" pitchFamily="34" charset="0"/>
      <p:regular r:id="rId15"/>
      <p:italic r:id="rId16"/>
    </p:embeddedFont>
    <p:embeddedFont>
      <p:font typeface="Source Serif 4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143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818E6-32D5-AFF0-F7F8-5B7F14B1B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314984-99D8-64F5-CAAD-1915A37A44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24A9D-3E98-4A42-7289-AA4B42D0B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E94-C2C9-4A1B-A209-CD40AAA96944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5B1C6-DA8E-51ED-0B3E-56F8F6979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7D688-1AB3-B220-C29A-D55F2E1CB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EA84C-21D5-4B29-A00B-9540AC062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29868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3A62C-E1AA-F04C-47F6-640624504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E56EF-894A-8F0C-C8C8-C51BF8C6F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2EB04-15AB-7DD5-A3B7-5868F6EB3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E94-C2C9-4A1B-A209-CD40AAA96944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2773B-DECE-72C4-5595-65CA7F9E2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4D087-0918-7959-1461-5690C19CA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EA84C-21D5-4B29-A00B-9540AC062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42992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AB4B9-1CDA-E9B9-7055-51336C023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AA14D-43D2-E3B3-7B81-232A5794E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AE905-2C08-7AD2-F1CE-D52917F04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E94-C2C9-4A1B-A209-CD40AAA96944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82716-3E57-B1EE-573B-CBD0F5173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38C3F-2FFB-0B0F-9AB7-EA18E7047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EA84C-21D5-4B29-A00B-9540AC062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00771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5A4DA-66D9-86D5-DACD-8D1E2AC22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BE4DC-3EC6-AEA9-3E02-0C5ECFB202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501BE-CEED-07B7-3697-89E439D37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C6FB1-C5F9-C7A9-C8C9-2FF55A15B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E94-C2C9-4A1B-A209-CD40AAA96944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E304-C1E4-2DE8-009E-9426B03C2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82F47-83BF-A80D-2829-773E657A6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EA84C-21D5-4B29-A00B-9540AC062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48228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5BB22-E37E-90E3-92F0-7FDC29D21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4F935-377B-8B39-B1DC-715225F1E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2E421-5355-2845-5D3E-AEBA80F8C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9EF5F2-4DF0-CDF3-6FE6-3F76CC3BC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A7CCCB-FAA6-C2E8-B0BE-54743D619E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D5B7AE-7251-1FB0-CF55-BC0901545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E94-C2C9-4A1B-A209-CD40AAA96944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425887-F551-CD0A-AECF-8019BB1B4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CFEC1C-0416-3E99-9506-02D3711A0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EA84C-21D5-4B29-A00B-9540AC062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31258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27B3B-1E34-0DA6-A989-1B51CB060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87C8B8-2491-8D56-8064-068488517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E94-C2C9-4A1B-A209-CD40AAA96944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A0C530-A45B-070F-EA5A-4DB3145FE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87DA5B-CDF2-1D08-81F5-05C5F941B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EA84C-21D5-4B29-A00B-9540AC062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79988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7FBF5E-E1AB-74C7-F9AA-FCE583585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E94-C2C9-4A1B-A209-CD40AAA96944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48A313-6AEE-1EBF-A6B0-51473AEDD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CEAC2-4CC2-1A4D-6B11-73A1D202F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EA84C-21D5-4B29-A00B-9540AC062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27694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B1111-1F8F-DDEA-AA6F-F29836EA8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04665-C974-D1F6-412F-86BC3F720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0BDF0-A36C-18AF-536D-0EF0EB85E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452F54-BE89-DAA0-CD45-1263BC8B0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E94-C2C9-4A1B-A209-CD40AAA96944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83D30-AF79-BCB3-E672-87DD7C853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BBDC1-F3C7-E3E4-6FC2-3DFA8678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EA84C-21D5-4B29-A00B-9540AC062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40709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4A5EC-C281-595C-911A-14AD0C4E7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B2784D-9562-253E-EA4D-96758A79DC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EB3C48-25FA-0AA8-1975-E763484CA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9E342-BA09-C6D2-3111-2A231D2A8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E94-C2C9-4A1B-A209-CD40AAA96944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D8FCC-CF5B-061F-2A80-698F75288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A6E65-3B0D-B3AC-7A72-6AECDBAE6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EA84C-21D5-4B29-A00B-9540AC062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62284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1CADD-2B4D-3223-3946-B068C0099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D76D43-BA9C-3CDF-6634-0C703FCFF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68788-0302-A86C-D735-CB2AC2BE9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E94-C2C9-4A1B-A209-CD40AAA96944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2DBB-7E74-05FE-DA2D-E62993D8E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D55EC-06D2-5066-14EF-303A46E84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EA84C-21D5-4B29-A00B-9540AC062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597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B95E2E-D640-5870-EFB3-5E0510B5E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60B3C5-6373-0568-E0F8-43578E952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7CC51-C12A-6C51-150A-A7CD8D0C2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E94-C2C9-4A1B-A209-CD40AAA96944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D6161-6CBF-A67A-BA9F-727F16840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92D17-ACAE-5224-92BC-AA69A5A74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EA84C-21D5-4B29-A00B-9540AC062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9280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596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7590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03378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5839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0717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88746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8028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3397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97709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0896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1BA063-9C2C-830C-226C-6B1D94920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F9637-3578-482B-AE5D-E8D02BEB4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2FD94-BDCD-C120-5DDA-7F21166276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A1E94-C2C9-4A1B-A209-CD40AAA96944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5C219-95FD-8AEF-131D-6C4E5A5E40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B7538-7BF5-8E9B-4C79-B8F81BAD7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3EA84C-21D5-4B29-A00B-9540AC062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346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7061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Machine Learning Approach to Bank Customer Retention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3334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SEP 785: Machine Learning - 2025 Fall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598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Students: Foram Brahmbhatt &amp; Savan Sachpara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17790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Instructor: Sayyed Faridoddin Afzali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7959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TA: Mahdi Astaraki</a:t>
            </a:r>
            <a:endParaRPr lang="en-US" sz="1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4A7B6C-CE8D-4A7D-C62D-FD06930DE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6103" y="350577"/>
            <a:ext cx="3350508" cy="10098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14751"/>
            <a:ext cx="119530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Abstract: Predicting Bank Customer Churn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77158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Financial institutions face significant challenges with customer retention, impacting profitability and customer lifetime value. This project introduces a machine learning method to forecast bank customer churn and discover behavioral segments.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321016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3310" y="4321016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2524" y="45783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5068729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Combines EDA, PCA for dimensionality reduction, K-Means for segmentation, and supervised models (Random Forest, XGBoost).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4321016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98067" y="4321016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7282" y="45783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7282" y="5068729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XGBoost outperforms Random Forest. Age, credit score, products, activity, and balance are key churn drivers.</a:t>
            </a:r>
            <a:endParaRPr lang="en-US" sz="17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4DB3724-634F-3828-416E-2C6B7CE7B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6103" y="350577"/>
            <a:ext cx="3350508" cy="10098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45231"/>
            <a:ext cx="96935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Introduction: The Churn Challenge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0763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 a competitive banking industry, customer retention is paramount. Predicting churn allows for proactive engagement and retention efforts. Traditional models often miss complex relationships, making ML techniques essential.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89" y="4256849"/>
            <a:ext cx="6407944" cy="2395657"/>
          </a:xfrm>
          <a:prstGeom prst="roundRect">
            <a:avLst>
              <a:gd name="adj" fmla="val 1420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1020604" y="43118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Background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3" y="4887276"/>
            <a:ext cx="59543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Churn is driven by dissatisfaction, low engagement, or financial stress. Forecasting churn enables targeted interventions like personalized offers.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4233802"/>
            <a:ext cx="6408063" cy="2395657"/>
          </a:xfrm>
          <a:prstGeom prst="roundRect">
            <a:avLst>
              <a:gd name="adj" fmla="val 1420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7655362" y="43118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55362" y="4887276"/>
            <a:ext cx="59544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Precisely identify high-probability churn customers using demographic, financial, and behavioral data, addressing class imbalance and non-linear relationships.</a:t>
            </a: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605B99-7EA8-70A7-DF41-F278FA7B2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6103" y="350577"/>
            <a:ext cx="3350508" cy="10098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925" y="578168"/>
            <a:ext cx="5256848" cy="65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Project Objectives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35925" y="1655683"/>
            <a:ext cx="473035" cy="47303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14685" y="1695033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419225" y="1727954"/>
            <a:ext cx="270081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Exploratory Analysis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419225" y="2182654"/>
            <a:ext cx="1247525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Uncover relationships between features and churn characteristics.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5925" y="2939534"/>
            <a:ext cx="473035" cy="47303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4685" y="2978884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2450" dirty="0"/>
          </a:p>
        </p:txBody>
      </p:sp>
      <p:sp>
        <p:nvSpPr>
          <p:cNvPr id="9" name="Text 7"/>
          <p:cNvSpPr/>
          <p:nvPr/>
        </p:nvSpPr>
        <p:spPr>
          <a:xfrm>
            <a:off x="1419225" y="3011805"/>
            <a:ext cx="315908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Customer Segmentation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1419225" y="3466505"/>
            <a:ext cx="1247525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Apply PCA + K-Means to interpret segments by churn likelihood.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35925" y="4223385"/>
            <a:ext cx="473035" cy="47303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4685" y="4262735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2450" dirty="0"/>
          </a:p>
        </p:txBody>
      </p:sp>
      <p:sp>
        <p:nvSpPr>
          <p:cNvPr id="13" name="Text 11"/>
          <p:cNvSpPr/>
          <p:nvPr/>
        </p:nvSpPr>
        <p:spPr>
          <a:xfrm>
            <a:off x="1419225" y="4295656"/>
            <a:ext cx="276546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Classification Models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1419225" y="4750356"/>
            <a:ext cx="1247525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Develop Random Forest and XGBoost models for churn prediction.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35925" y="5507236"/>
            <a:ext cx="473035" cy="47303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4685" y="5546586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</a:t>
            </a:r>
            <a:endParaRPr lang="en-US" sz="2450" dirty="0"/>
          </a:p>
        </p:txBody>
      </p:sp>
      <p:sp>
        <p:nvSpPr>
          <p:cNvPr id="17" name="Text 15"/>
          <p:cNvSpPr/>
          <p:nvPr/>
        </p:nvSpPr>
        <p:spPr>
          <a:xfrm>
            <a:off x="1419225" y="5579507"/>
            <a:ext cx="262842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Robust Evaluation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1419225" y="6034207"/>
            <a:ext cx="1247525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Utilize cross-validation, hyperparameter tuning, and robust metrics.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35925" y="6791087"/>
            <a:ext cx="473035" cy="47303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4685" y="6830437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5</a:t>
            </a:r>
            <a:endParaRPr lang="en-US" sz="2450" dirty="0"/>
          </a:p>
        </p:txBody>
      </p:sp>
      <p:sp>
        <p:nvSpPr>
          <p:cNvPr id="21" name="Text 19"/>
          <p:cNvSpPr/>
          <p:nvPr/>
        </p:nvSpPr>
        <p:spPr>
          <a:xfrm>
            <a:off x="1419225" y="6863358"/>
            <a:ext cx="262842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Actionable Insights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1419225" y="7318058"/>
            <a:ext cx="1247525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Extract insights for effective customer retention strategies.</a:t>
            </a:r>
            <a:endParaRPr lang="en-US" sz="1650" dirty="0"/>
          </a:p>
        </p:txBody>
      </p:sp>
      <p:pic>
        <p:nvPicPr>
          <p:cNvPr id="24" name="Picture 23" descr="A graph of a graph going up&#10;&#10;AI-generated content may be incorrect.">
            <a:extLst>
              <a:ext uri="{FF2B5EF4-FFF2-40B4-BE49-F238E27FC236}">
                <a16:creationId xmlns:a16="http://schemas.microsoft.com/office/drawing/2014/main" id="{D27FA78B-42EB-C1DE-7C4B-C10171C29F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597"/>
          <a:stretch>
            <a:fillRect/>
          </a:stretch>
        </p:blipFill>
        <p:spPr>
          <a:xfrm>
            <a:off x="8831766" y="65382"/>
            <a:ext cx="5798634" cy="81642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1841"/>
            <a:ext cx="60065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&amp; Preprocessing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5424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project utilizes a publicly accessible bank customer churn dataset with 10,000 records.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3991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98025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CreditScore, Geography, Gender, Age, Tenure, Balance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163512" y="4385427"/>
            <a:ext cx="596419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r>
              <a:rPr lang="en-US" sz="1750" dirty="0" err="1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NumOfProducts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HasCrCard, IsActiveMember, EstimatedSalary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2755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Churn (Target Variable: 1 = Exited, 0 = Stayed)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3991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Preprocessing Steps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398025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missing values or duplicates.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42245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Categorical Encoding: One-Hot Encoding for Gender and Geography.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22755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Feature Scaling: StandardScaler for numerical features.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603265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Class Imbalance: 20% churn rate addressed by threshold tuning.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81B9E91-D7D4-E753-7514-B15929B1E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6103" y="350577"/>
            <a:ext cx="3350508" cy="10098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FDD8A05-8167-A3A1-78FE-558F2CBE0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6103" y="350577"/>
            <a:ext cx="3350508" cy="100987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1264949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Methodology: Unsupervised &amp; Supervised Learning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1274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Our approach combines K-Means for customer segmentation and two ensemble models for churn prediction.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530798"/>
            <a:ext cx="4347567" cy="90725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</p:pic>
      <p:sp>
        <p:nvSpPr>
          <p:cNvPr id="5" name="Text 2"/>
          <p:cNvSpPr/>
          <p:nvPr/>
        </p:nvSpPr>
        <p:spPr>
          <a:xfrm>
            <a:off x="1020604" y="4664869"/>
            <a:ext cx="38939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Customer Segmentation (K-Means)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509617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Unsupervised learning to group customers with similar financial and behavioral profiles. Optimal k=4 based elbow method.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1357" y="3530798"/>
            <a:ext cx="4347567" cy="90725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</p:pic>
      <p:sp>
        <p:nvSpPr>
          <p:cNvPr id="8" name="Text 4"/>
          <p:cNvSpPr/>
          <p:nvPr/>
        </p:nvSpPr>
        <p:spPr>
          <a:xfrm>
            <a:off x="5368171" y="4664869"/>
            <a:ext cx="31381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Preprocessing Pipeline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78961" y="5509617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StandardScaler for numerical features, OneHotEncoder for categorical. Unified pipeline for consistent data transformation.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8924" y="3530798"/>
            <a:ext cx="4347567" cy="90725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</p:pic>
      <p:sp>
        <p:nvSpPr>
          <p:cNvPr id="11" name="Text 6"/>
          <p:cNvSpPr/>
          <p:nvPr/>
        </p:nvSpPr>
        <p:spPr>
          <a:xfrm>
            <a:off x="9715738" y="46648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Model Selection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942552" y="5513041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Random Forest (baseline) and XGBoost (advanced) chosen for handling mixed feature types and non-linear relationships.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5561" y="531376"/>
            <a:ext cx="6992303" cy="603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Experiments &amp; Findings: EDA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75561" y="1520547"/>
            <a:ext cx="13279279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Exploratory Data Analysis revealed key insights into customer churn.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03770" y="2046446"/>
            <a:ext cx="22860" cy="5651778"/>
          </a:xfrm>
          <a:prstGeom prst="roundRect">
            <a:avLst>
              <a:gd name="adj" fmla="val 126670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2701" y="2046446"/>
            <a:ext cx="6639639" cy="1729502"/>
          </a:xfrm>
          <a:prstGeom prst="roundRect">
            <a:avLst>
              <a:gd name="adj" fmla="val 1674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33148" y="2239447"/>
            <a:ext cx="2866192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Quality &amp; Cleaning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45701" y="2656761"/>
            <a:ext cx="6253639" cy="926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10,000 customer entries, no missing values. Irrelevant columns (RowNumber, CustomerId, Surname) dropped. 'Exited' renamed to 'Churn'.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2700" y="4114800"/>
            <a:ext cx="6639639" cy="1420773"/>
          </a:xfrm>
          <a:prstGeom prst="rect">
            <a:avLst/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79401" y="4199236"/>
            <a:ext cx="3319939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Target Variable Distribution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106328" y="4544967"/>
            <a:ext cx="6253639" cy="617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Significant class imbalance: 20.37% churn rate (2,037 exited) vs. 79.63% stayed (7,963 customers).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2701" y="5968722"/>
            <a:ext cx="6639639" cy="1729502"/>
          </a:xfrm>
          <a:prstGeom prst="roundRect">
            <a:avLst>
              <a:gd name="adj" fmla="val 1674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86300" y="6161723"/>
            <a:ext cx="2413040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Impact of Features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45701" y="6579037"/>
            <a:ext cx="6253639" cy="926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Age 40-65 have lower churn; 25-40 have higher. Strongest positive correlation with Age, negative with IsActiveMember and NumOfProducts.</a:t>
            </a:r>
            <a:endParaRPr lang="en-US" sz="15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DD5F9E-D041-344A-186B-28DCFEE99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339" y="2328233"/>
            <a:ext cx="3036185" cy="238215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5D30EDC-E4FC-872A-A904-26751394E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339" y="4853696"/>
            <a:ext cx="3015045" cy="230501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4EC9D10-0A98-3B93-CA55-9CAE0BCB7C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5927" y="2413579"/>
            <a:ext cx="3346912" cy="22296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6DDF2CD-336D-ADBD-F5B2-BA54D07DC9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9844" y="4872335"/>
            <a:ext cx="3214996" cy="2154187"/>
          </a:xfrm>
          <a:prstGeom prst="rect">
            <a:avLst/>
          </a:prstGeom>
        </p:spPr>
      </p:pic>
      <p:sp>
        <p:nvSpPr>
          <p:cNvPr id="14" name="Shape 2">
            <a:extLst>
              <a:ext uri="{FF2B5EF4-FFF2-40B4-BE49-F238E27FC236}">
                <a16:creationId xmlns:a16="http://schemas.microsoft.com/office/drawing/2014/main" id="{05203D60-5898-B6AA-9E75-2F410B3B4491}"/>
              </a:ext>
            </a:extLst>
          </p:cNvPr>
          <p:cNvSpPr/>
          <p:nvPr/>
        </p:nvSpPr>
        <p:spPr>
          <a:xfrm>
            <a:off x="10656927" y="1999297"/>
            <a:ext cx="22860" cy="5651778"/>
          </a:xfrm>
          <a:prstGeom prst="roundRect">
            <a:avLst>
              <a:gd name="adj" fmla="val 126670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77DFF603-8C07-BBCC-FB75-A3367080F1AC}"/>
              </a:ext>
            </a:extLst>
          </p:cNvPr>
          <p:cNvSpPr/>
          <p:nvPr/>
        </p:nvSpPr>
        <p:spPr>
          <a:xfrm rot="5400000">
            <a:off x="10714497" y="1940718"/>
            <a:ext cx="22860" cy="5651778"/>
          </a:xfrm>
          <a:prstGeom prst="roundRect">
            <a:avLst>
              <a:gd name="adj" fmla="val 126670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63CDE25-6119-9E09-2D14-5B7B654CB9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6103" y="350577"/>
            <a:ext cx="3350508" cy="10098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5773"/>
            <a:ext cx="121679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Customer Segmentation (K-Means) Insights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8818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PCA reduced 7 features to 6 components, explaining 90% variance. K-Means identified four distinct customer segments.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6234"/>
            <a:ext cx="13042821" cy="2979420"/>
          </a:xfrm>
          <a:prstGeom prst="roundRect">
            <a:avLst>
              <a:gd name="adj" fmla="val 114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1410" y="3213854"/>
            <a:ext cx="7952847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9653" y="335756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Cluster 0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666199" y="3357563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 Balance &amp; Very Active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774603" y="331981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13%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864173"/>
            <a:ext cx="7952847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9653" y="4007882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Cluster 1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3666199" y="3975616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Many Products, Low Balance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774485" y="393334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12%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4514493"/>
            <a:ext cx="7952847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9653" y="465820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Cluster 2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666199" y="4593669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 Balance but Inactive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774485" y="462426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29%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1" y="5211722"/>
            <a:ext cx="7952846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29653" y="530852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Cluster 3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3666199" y="5243988"/>
            <a:ext cx="388036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Older Customers with Medium Balances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774485" y="5238510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36%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93790" y="644080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Elbow Method confirmed K=4 as the optimal number of clusters.</a:t>
            </a:r>
            <a:endParaRPr lang="en-US" sz="17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AB08634-CB21-A200-0734-B9AFE7C80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177" y="2989334"/>
            <a:ext cx="4747176" cy="376880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4E84129-3C31-6100-AD0F-FC53EECDB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6103" y="350577"/>
            <a:ext cx="3350508" cy="10098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5773"/>
            <a:ext cx="8976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Model Performance Comparison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86170" y="229301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Random Forest and XGBoost models showed distinct trade-offs in churn prediction.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793791" y="68365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Random Forest delivers a $83,050 greater net benefit, confirming a recall-prioritized strategy.</a:t>
            </a:r>
            <a:endParaRPr lang="en-US" sz="1750" dirty="0"/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8867C239-6452-FE57-A589-0549DB1566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688195"/>
              </p:ext>
            </p:extLst>
          </p:nvPr>
        </p:nvGraphicFramePr>
        <p:xfrm>
          <a:off x="786170" y="2943922"/>
          <a:ext cx="11898354" cy="366474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419498">
                  <a:extLst>
                    <a:ext uri="{9D8B030D-6E8A-4147-A177-3AD203B41FA5}">
                      <a16:colId xmlns:a16="http://schemas.microsoft.com/office/drawing/2014/main" val="25556759"/>
                    </a:ext>
                  </a:extLst>
                </a:gridCol>
                <a:gridCol w="2619714">
                  <a:extLst>
                    <a:ext uri="{9D8B030D-6E8A-4147-A177-3AD203B41FA5}">
                      <a16:colId xmlns:a16="http://schemas.microsoft.com/office/drawing/2014/main" val="2942887530"/>
                    </a:ext>
                  </a:extLst>
                </a:gridCol>
                <a:gridCol w="2619714">
                  <a:extLst>
                    <a:ext uri="{9D8B030D-6E8A-4147-A177-3AD203B41FA5}">
                      <a16:colId xmlns:a16="http://schemas.microsoft.com/office/drawing/2014/main" val="1221448414"/>
                    </a:ext>
                  </a:extLst>
                </a:gridCol>
                <a:gridCol w="2619714">
                  <a:extLst>
                    <a:ext uri="{9D8B030D-6E8A-4147-A177-3AD203B41FA5}">
                      <a16:colId xmlns:a16="http://schemas.microsoft.com/office/drawing/2014/main" val="3302674751"/>
                    </a:ext>
                  </a:extLst>
                </a:gridCol>
                <a:gridCol w="2619714">
                  <a:extLst>
                    <a:ext uri="{9D8B030D-6E8A-4147-A177-3AD203B41FA5}">
                      <a16:colId xmlns:a16="http://schemas.microsoft.com/office/drawing/2014/main" val="1541548367"/>
                    </a:ext>
                  </a:extLst>
                </a:gridCol>
              </a:tblGrid>
              <a:tr h="536094">
                <a:tc>
                  <a:txBody>
                    <a:bodyPr/>
                    <a:lstStyle/>
                    <a:p>
                      <a:r>
                        <a:rPr lang="en-US" dirty="0">
                          <a:latin typeface="Source Serif 4" panose="020B0604020202020204" charset="0"/>
                          <a:ea typeface="Source Serif 4" panose="020B0604020202020204" charset="0"/>
                        </a:rPr>
                        <a:t>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ource Serif 4" panose="020B0604020202020204" charset="0"/>
                          <a:ea typeface="Source Serif 4" panose="020B0604020202020204" charset="0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ource Serif 4" panose="020B0604020202020204" charset="0"/>
                          <a:ea typeface="Source Serif 4" panose="020B0604020202020204" charset="0"/>
                        </a:rP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ource Serif 4" panose="020B0604020202020204" charset="0"/>
                          <a:ea typeface="Source Serif 4" panose="020B0604020202020204" charset="0"/>
                        </a:rPr>
                        <a:t>Difference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ource Serif 4" panose="020B0604020202020204" charset="0"/>
                          <a:ea typeface="Source Serif 4" panose="020B0604020202020204" charset="0"/>
                        </a:rPr>
                        <a:t>Winner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597888"/>
                  </a:ext>
                </a:extLst>
              </a:tr>
              <a:tr h="501226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Accuracy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0.8225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0.8570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0.0345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XGBoost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738813"/>
                  </a:ext>
                </a:extLst>
              </a:tr>
              <a:tr h="71915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Precision </a:t>
                      </a:r>
                    </a:p>
                    <a:p>
                      <a:endParaRPr lang="en-US" sz="2000" b="1" dirty="0">
                        <a:latin typeface="Source Sans Pro Light" panose="020B0403030403020204" pitchFamily="34" charset="0"/>
                        <a:ea typeface="Source Sans Pro Light" panose="020B04030304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0.5528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0.7553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0.2025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XGBoost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866234"/>
                  </a:ext>
                </a:extLst>
              </a:tr>
              <a:tr h="410502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0.6683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0.4398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-0.2285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Random Forest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033788"/>
                  </a:ext>
                </a:extLst>
              </a:tr>
              <a:tr h="495324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0.6051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0.559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-0.0492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Random Forest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251105"/>
                  </a:ext>
                </a:extLst>
              </a:tr>
              <a:tr h="501226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0.8473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0.8540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0.0067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XGBoost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28437"/>
                  </a:ext>
                </a:extLst>
              </a:tr>
              <a:tr h="501226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F2-Score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0.6415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0.4799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-0.1616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ource Sans Pro Light" panose="020B0403030403020204" pitchFamily="34" charset="0"/>
                          <a:ea typeface="Source Sans Pro Light" panose="020B0403030403020204" pitchFamily="34" charset="0"/>
                        </a:rPr>
                        <a:t>Random Forest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060968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EB3A80D-F112-EC71-7736-30040BF7C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6103" y="350577"/>
            <a:ext cx="3350508" cy="10098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2713" y="591383"/>
            <a:ext cx="8581192" cy="672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Conclusion &amp; Recommendations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52713" y="1693545"/>
            <a:ext cx="13124974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project provides a comprehensive, data-informed structure for minimizing customer churn.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52714" y="2279452"/>
            <a:ext cx="4269886" cy="645200"/>
          </a:xfrm>
          <a:prstGeom prst="roundRect">
            <a:avLst>
              <a:gd name="adj" fmla="val 480026"/>
            </a:avLst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26387" y="2445324"/>
            <a:ext cx="322540" cy="40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382171" y="3013887"/>
            <a:ext cx="2688431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Model Choice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1193" y="3419830"/>
            <a:ext cx="3783087" cy="128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00" b="1" dirty="0">
                <a:solidFill>
                  <a:srgbClr val="504C49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Source Serif 4" pitchFamily="34" charset="-120"/>
              </a:rPr>
              <a:t>Random Forest is recommended for production due to its superior F2-Score (0.6415) and 48% higher ROI.</a:t>
            </a:r>
            <a:endParaRPr lang="en-US" sz="1600" b="1" dirty="0"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52713" y="4852140"/>
            <a:ext cx="4269886" cy="645200"/>
          </a:xfrm>
          <a:prstGeom prst="roundRect">
            <a:avLst>
              <a:gd name="adj" fmla="val 480026"/>
            </a:avLst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26385" y="5042200"/>
            <a:ext cx="322540" cy="40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543440" y="5691663"/>
            <a:ext cx="2688431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Drivers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52712" y="6153260"/>
            <a:ext cx="4269887" cy="1128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00" b="1" dirty="0">
                <a:solidFill>
                  <a:srgbClr val="504C49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Source Serif 4" pitchFamily="34" charset="-120"/>
              </a:rPr>
              <a:t>Age (40-60), number of products (3+), account balance (100K+ dollars) are significant churn factors.</a:t>
            </a:r>
            <a:endParaRPr lang="en-US" sz="1600" b="1" dirty="0"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28BFD76-8DD1-6A06-7196-5C0A1C244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5851" y="2753106"/>
            <a:ext cx="4955474" cy="4008865"/>
          </a:xfrm>
          <a:prstGeom prst="rect">
            <a:avLst/>
          </a:prstGeom>
        </p:spPr>
      </p:pic>
      <p:sp>
        <p:nvSpPr>
          <p:cNvPr id="23" name="Shape 2">
            <a:extLst>
              <a:ext uri="{FF2B5EF4-FFF2-40B4-BE49-F238E27FC236}">
                <a16:creationId xmlns:a16="http://schemas.microsoft.com/office/drawing/2014/main" id="{EB63DCBE-FBF8-9131-ECD6-928C19BFD980}"/>
              </a:ext>
            </a:extLst>
          </p:cNvPr>
          <p:cNvSpPr/>
          <p:nvPr/>
        </p:nvSpPr>
        <p:spPr>
          <a:xfrm>
            <a:off x="5275965" y="2257358"/>
            <a:ext cx="4269886" cy="645200"/>
          </a:xfrm>
          <a:prstGeom prst="roundRect">
            <a:avLst>
              <a:gd name="adj" fmla="val 480026"/>
            </a:avLst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5001E240-62A9-03DD-BBCC-295E8EAB2679}"/>
              </a:ext>
            </a:extLst>
          </p:cNvPr>
          <p:cNvSpPr/>
          <p:nvPr/>
        </p:nvSpPr>
        <p:spPr>
          <a:xfrm>
            <a:off x="7249638" y="2378325"/>
            <a:ext cx="322540" cy="40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dirty="0">
                <a:solidFill>
                  <a:srgbClr val="504C49"/>
                </a:solidFill>
                <a:latin typeface="Platypi Medium" pitchFamily="34" charset="0"/>
                <a:cs typeface="Platypi Medium" pitchFamily="34" charset="-120"/>
              </a:rPr>
              <a:t>3</a:t>
            </a:r>
            <a:endParaRPr lang="en-US" sz="2500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4367BCA8-1989-02A1-FBAB-1DD181EAE4D9}"/>
              </a:ext>
            </a:extLst>
          </p:cNvPr>
          <p:cNvSpPr/>
          <p:nvPr/>
        </p:nvSpPr>
        <p:spPr>
          <a:xfrm>
            <a:off x="6036460" y="2986376"/>
            <a:ext cx="2750701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Practical Application</a:t>
            </a:r>
            <a:endParaRPr lang="en-US" sz="20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D7ECF3E1-CF52-3FA8-306B-AD685145D5A5}"/>
              </a:ext>
            </a:extLst>
          </p:cNvPr>
          <p:cNvSpPr/>
          <p:nvPr/>
        </p:nvSpPr>
        <p:spPr>
          <a:xfrm>
            <a:off x="5353305" y="3406189"/>
            <a:ext cx="4070195" cy="1151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00" b="1" dirty="0">
                <a:solidFill>
                  <a:srgbClr val="504C49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Source Serif 4" pitchFamily="34" charset="-120"/>
              </a:rPr>
              <a:t>Implement a three-level risk scoring system for targeted retention offers and personalized outreach.</a:t>
            </a:r>
            <a:endParaRPr lang="en-US" sz="1600" b="1" dirty="0"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7BA7A919-1276-FB25-98D6-0337175D2E2E}"/>
              </a:ext>
            </a:extLst>
          </p:cNvPr>
          <p:cNvSpPr/>
          <p:nvPr/>
        </p:nvSpPr>
        <p:spPr>
          <a:xfrm>
            <a:off x="5275965" y="4835567"/>
            <a:ext cx="4269886" cy="645200"/>
          </a:xfrm>
          <a:prstGeom prst="roundRect">
            <a:avLst>
              <a:gd name="adj" fmla="val 480026"/>
            </a:avLst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670DA3C5-4CD5-5F45-ABBD-EEDE0C32B9C8}"/>
              </a:ext>
            </a:extLst>
          </p:cNvPr>
          <p:cNvSpPr/>
          <p:nvPr/>
        </p:nvSpPr>
        <p:spPr>
          <a:xfrm>
            <a:off x="7249638" y="5060886"/>
            <a:ext cx="322540" cy="40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dirty="0">
                <a:solidFill>
                  <a:srgbClr val="504C49"/>
                </a:solidFill>
                <a:latin typeface="Platypi Medium" pitchFamily="34" charset="0"/>
                <a:cs typeface="Platypi Medium" pitchFamily="34" charset="-120"/>
              </a:rPr>
              <a:t>4</a:t>
            </a:r>
            <a:endParaRPr lang="en-US" sz="2500" dirty="0"/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5DA5AD16-3E57-426F-0911-446CE2995630}"/>
              </a:ext>
            </a:extLst>
          </p:cNvPr>
          <p:cNvSpPr/>
          <p:nvPr/>
        </p:nvSpPr>
        <p:spPr>
          <a:xfrm>
            <a:off x="5944340" y="5689470"/>
            <a:ext cx="2688431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Future Directions</a:t>
            </a:r>
            <a:endParaRPr lang="en-US" sz="2000" dirty="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9CA5C23D-B26C-183B-76BA-843667DE9CE3}"/>
              </a:ext>
            </a:extLst>
          </p:cNvPr>
          <p:cNvSpPr/>
          <p:nvPr/>
        </p:nvSpPr>
        <p:spPr>
          <a:xfrm>
            <a:off x="5474635" y="6157065"/>
            <a:ext cx="3948865" cy="120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00" b="1" dirty="0">
                <a:solidFill>
                  <a:srgbClr val="504C49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Source Serif 4" pitchFamily="34" charset="-120"/>
              </a:rPr>
              <a:t>Focus on threshold optimization, incorporating temporal behavioral patterns, and longitudinal validation for sustained performance.</a:t>
            </a:r>
            <a:endParaRPr lang="en-US" sz="1600" b="1" dirty="0"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9AF1D68-9332-F986-2185-4062129BB0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6103" y="350577"/>
            <a:ext cx="3350508" cy="10098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98E0C1-19BB-71B9-AC0A-6EFD4D0C8460}"/>
              </a:ext>
            </a:extLst>
          </p:cNvPr>
          <p:cNvSpPr txBox="1"/>
          <p:nvPr/>
        </p:nvSpPr>
        <p:spPr>
          <a:xfrm>
            <a:off x="766658" y="4292947"/>
            <a:ext cx="13091568" cy="20253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9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9242" y="6610862"/>
            <a:ext cx="5486400" cy="21946"/>
          </a:xfrm>
          <a:custGeom>
            <a:avLst/>
            <a:gdLst>
              <a:gd name="connsiteX0" fmla="*/ 0 w 5486400"/>
              <a:gd name="connsiteY0" fmla="*/ 0 h 21946"/>
              <a:gd name="connsiteX1" fmla="*/ 521208 w 5486400"/>
              <a:gd name="connsiteY1" fmla="*/ 0 h 21946"/>
              <a:gd name="connsiteX2" fmla="*/ 1316736 w 5486400"/>
              <a:gd name="connsiteY2" fmla="*/ 0 h 21946"/>
              <a:gd name="connsiteX3" fmla="*/ 1892808 w 5486400"/>
              <a:gd name="connsiteY3" fmla="*/ 0 h 21946"/>
              <a:gd name="connsiteX4" fmla="*/ 2468880 w 5486400"/>
              <a:gd name="connsiteY4" fmla="*/ 0 h 21946"/>
              <a:gd name="connsiteX5" fmla="*/ 3209544 w 5486400"/>
              <a:gd name="connsiteY5" fmla="*/ 0 h 21946"/>
              <a:gd name="connsiteX6" fmla="*/ 3950208 w 5486400"/>
              <a:gd name="connsiteY6" fmla="*/ 0 h 21946"/>
              <a:gd name="connsiteX7" fmla="*/ 4581144 w 5486400"/>
              <a:gd name="connsiteY7" fmla="*/ 0 h 21946"/>
              <a:gd name="connsiteX8" fmla="*/ 5486400 w 5486400"/>
              <a:gd name="connsiteY8" fmla="*/ 0 h 21946"/>
              <a:gd name="connsiteX9" fmla="*/ 5486400 w 5486400"/>
              <a:gd name="connsiteY9" fmla="*/ 21946 h 21946"/>
              <a:gd name="connsiteX10" fmla="*/ 4800600 w 5486400"/>
              <a:gd name="connsiteY10" fmla="*/ 21946 h 21946"/>
              <a:gd name="connsiteX11" fmla="*/ 4005072 w 5486400"/>
              <a:gd name="connsiteY11" fmla="*/ 21946 h 21946"/>
              <a:gd name="connsiteX12" fmla="*/ 3483864 w 5486400"/>
              <a:gd name="connsiteY12" fmla="*/ 21946 h 21946"/>
              <a:gd name="connsiteX13" fmla="*/ 2743200 w 5486400"/>
              <a:gd name="connsiteY13" fmla="*/ 21946 h 21946"/>
              <a:gd name="connsiteX14" fmla="*/ 2112264 w 5486400"/>
              <a:gd name="connsiteY14" fmla="*/ 21946 h 21946"/>
              <a:gd name="connsiteX15" fmla="*/ 1481328 w 5486400"/>
              <a:gd name="connsiteY15" fmla="*/ 21946 h 21946"/>
              <a:gd name="connsiteX16" fmla="*/ 795528 w 5486400"/>
              <a:gd name="connsiteY16" fmla="*/ 21946 h 21946"/>
              <a:gd name="connsiteX17" fmla="*/ 0 w 5486400"/>
              <a:gd name="connsiteY17" fmla="*/ 21946 h 21946"/>
              <a:gd name="connsiteX18" fmla="*/ 0 w 5486400"/>
              <a:gd name="connsiteY18" fmla="*/ 0 h 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86400" h="21946" fill="none" extrusionOk="0">
                <a:moveTo>
                  <a:pt x="0" y="0"/>
                </a:moveTo>
                <a:cubicBezTo>
                  <a:pt x="128422" y="-9892"/>
                  <a:pt x="385289" y="3605"/>
                  <a:pt x="521208" y="0"/>
                </a:cubicBezTo>
                <a:cubicBezTo>
                  <a:pt x="657127" y="-3605"/>
                  <a:pt x="1103214" y="-27835"/>
                  <a:pt x="1316736" y="0"/>
                </a:cubicBezTo>
                <a:cubicBezTo>
                  <a:pt x="1530258" y="27835"/>
                  <a:pt x="1614175" y="11778"/>
                  <a:pt x="1892808" y="0"/>
                </a:cubicBezTo>
                <a:cubicBezTo>
                  <a:pt x="2171441" y="-11778"/>
                  <a:pt x="2225063" y="440"/>
                  <a:pt x="2468880" y="0"/>
                </a:cubicBezTo>
                <a:cubicBezTo>
                  <a:pt x="2712697" y="-440"/>
                  <a:pt x="2841380" y="28031"/>
                  <a:pt x="3209544" y="0"/>
                </a:cubicBezTo>
                <a:cubicBezTo>
                  <a:pt x="3577708" y="-28031"/>
                  <a:pt x="3612143" y="26994"/>
                  <a:pt x="3950208" y="0"/>
                </a:cubicBezTo>
                <a:cubicBezTo>
                  <a:pt x="4288273" y="-26994"/>
                  <a:pt x="4313212" y="-20192"/>
                  <a:pt x="4581144" y="0"/>
                </a:cubicBezTo>
                <a:cubicBezTo>
                  <a:pt x="4849076" y="20192"/>
                  <a:pt x="5051950" y="-22832"/>
                  <a:pt x="5486400" y="0"/>
                </a:cubicBezTo>
                <a:cubicBezTo>
                  <a:pt x="5486679" y="4631"/>
                  <a:pt x="5486453" y="16862"/>
                  <a:pt x="5486400" y="21946"/>
                </a:cubicBezTo>
                <a:cubicBezTo>
                  <a:pt x="5170116" y="45756"/>
                  <a:pt x="4962744" y="50675"/>
                  <a:pt x="4800600" y="21946"/>
                </a:cubicBezTo>
                <a:cubicBezTo>
                  <a:pt x="4638456" y="-6783"/>
                  <a:pt x="4322324" y="33401"/>
                  <a:pt x="4005072" y="21946"/>
                </a:cubicBezTo>
                <a:cubicBezTo>
                  <a:pt x="3687820" y="10491"/>
                  <a:pt x="3591016" y="43190"/>
                  <a:pt x="3483864" y="21946"/>
                </a:cubicBezTo>
                <a:cubicBezTo>
                  <a:pt x="3376712" y="702"/>
                  <a:pt x="3055583" y="36536"/>
                  <a:pt x="2743200" y="21946"/>
                </a:cubicBezTo>
                <a:cubicBezTo>
                  <a:pt x="2430817" y="7356"/>
                  <a:pt x="2323693" y="-1142"/>
                  <a:pt x="2112264" y="21946"/>
                </a:cubicBezTo>
                <a:cubicBezTo>
                  <a:pt x="1900835" y="45034"/>
                  <a:pt x="1769795" y="42299"/>
                  <a:pt x="1481328" y="21946"/>
                </a:cubicBezTo>
                <a:cubicBezTo>
                  <a:pt x="1192861" y="1593"/>
                  <a:pt x="951949" y="4394"/>
                  <a:pt x="795528" y="21946"/>
                </a:cubicBezTo>
                <a:cubicBezTo>
                  <a:pt x="639107" y="39498"/>
                  <a:pt x="280064" y="54386"/>
                  <a:pt x="0" y="21946"/>
                </a:cubicBezTo>
                <a:cubicBezTo>
                  <a:pt x="287" y="12071"/>
                  <a:pt x="-113" y="6250"/>
                  <a:pt x="0" y="0"/>
                </a:cubicBezTo>
                <a:close/>
              </a:path>
              <a:path w="5486400" h="21946" stroke="0" extrusionOk="0">
                <a:moveTo>
                  <a:pt x="0" y="0"/>
                </a:moveTo>
                <a:cubicBezTo>
                  <a:pt x="140163" y="1528"/>
                  <a:pt x="359746" y="-20262"/>
                  <a:pt x="576072" y="0"/>
                </a:cubicBezTo>
                <a:cubicBezTo>
                  <a:pt x="792398" y="20262"/>
                  <a:pt x="960967" y="4679"/>
                  <a:pt x="1097280" y="0"/>
                </a:cubicBezTo>
                <a:cubicBezTo>
                  <a:pt x="1233593" y="-4679"/>
                  <a:pt x="1438942" y="21923"/>
                  <a:pt x="1673352" y="0"/>
                </a:cubicBezTo>
                <a:cubicBezTo>
                  <a:pt x="1907762" y="-21923"/>
                  <a:pt x="2077271" y="26161"/>
                  <a:pt x="2359152" y="0"/>
                </a:cubicBezTo>
                <a:cubicBezTo>
                  <a:pt x="2641033" y="-26161"/>
                  <a:pt x="2783448" y="-7114"/>
                  <a:pt x="3099816" y="0"/>
                </a:cubicBezTo>
                <a:cubicBezTo>
                  <a:pt x="3416184" y="7114"/>
                  <a:pt x="3702177" y="5366"/>
                  <a:pt x="3895344" y="0"/>
                </a:cubicBezTo>
                <a:cubicBezTo>
                  <a:pt x="4088511" y="-5366"/>
                  <a:pt x="4486351" y="-34388"/>
                  <a:pt x="4690872" y="0"/>
                </a:cubicBezTo>
                <a:cubicBezTo>
                  <a:pt x="4895393" y="34388"/>
                  <a:pt x="5247475" y="7313"/>
                  <a:pt x="5486400" y="0"/>
                </a:cubicBezTo>
                <a:cubicBezTo>
                  <a:pt x="5485667" y="4400"/>
                  <a:pt x="5486098" y="11744"/>
                  <a:pt x="5486400" y="21946"/>
                </a:cubicBezTo>
                <a:cubicBezTo>
                  <a:pt x="5357922" y="29491"/>
                  <a:pt x="5150069" y="41551"/>
                  <a:pt x="4910328" y="21946"/>
                </a:cubicBezTo>
                <a:cubicBezTo>
                  <a:pt x="4670587" y="2341"/>
                  <a:pt x="4394078" y="-6426"/>
                  <a:pt x="4114800" y="21946"/>
                </a:cubicBezTo>
                <a:cubicBezTo>
                  <a:pt x="3835522" y="50318"/>
                  <a:pt x="3784134" y="14344"/>
                  <a:pt x="3593592" y="21946"/>
                </a:cubicBezTo>
                <a:cubicBezTo>
                  <a:pt x="3403050" y="29548"/>
                  <a:pt x="3077657" y="57451"/>
                  <a:pt x="2852928" y="21946"/>
                </a:cubicBezTo>
                <a:cubicBezTo>
                  <a:pt x="2628199" y="-13559"/>
                  <a:pt x="2405317" y="4934"/>
                  <a:pt x="2221992" y="21946"/>
                </a:cubicBezTo>
                <a:cubicBezTo>
                  <a:pt x="2038667" y="38958"/>
                  <a:pt x="1893196" y="22793"/>
                  <a:pt x="1591056" y="21946"/>
                </a:cubicBezTo>
                <a:cubicBezTo>
                  <a:pt x="1288916" y="21099"/>
                  <a:pt x="1027804" y="30781"/>
                  <a:pt x="795528" y="21946"/>
                </a:cubicBezTo>
                <a:cubicBezTo>
                  <a:pt x="563252" y="13111"/>
                  <a:pt x="160838" y="32034"/>
                  <a:pt x="0" y="21946"/>
                </a:cubicBezTo>
                <a:cubicBezTo>
                  <a:pt x="-116" y="15135"/>
                  <a:pt x="-209" y="796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D7DE46-8E53-C1CE-91F2-18B615170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6103" y="350577"/>
            <a:ext cx="3350508" cy="100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19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Words>791</Words>
  <Application>Microsoft Office PowerPoint</Application>
  <PresentationFormat>Custom</PresentationFormat>
  <Paragraphs>138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Calibri</vt:lpstr>
      <vt:lpstr>Arial</vt:lpstr>
      <vt:lpstr>Platypi Medium</vt:lpstr>
      <vt:lpstr>Source Serif 4</vt:lpstr>
      <vt:lpstr>Source Sans Pro Light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FORAM</dc:creator>
  <cp:lastModifiedBy>Foram brahmbhatt</cp:lastModifiedBy>
  <cp:revision>10</cp:revision>
  <dcterms:created xsi:type="dcterms:W3CDTF">2025-12-05T05:08:11Z</dcterms:created>
  <dcterms:modified xsi:type="dcterms:W3CDTF">2025-12-06T02:34:37Z</dcterms:modified>
</cp:coreProperties>
</file>